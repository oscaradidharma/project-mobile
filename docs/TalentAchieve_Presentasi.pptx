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9"/>
    </p:embeddedFont>
    <p:embeddedFont>
      <p:font typeface="Cambria Bold" charset="1" panose="02040803050406030204"/>
      <p:regular r:id="rId20"/>
    </p:embeddedFont>
    <p:embeddedFont>
      <p:font typeface="Cambria Bold Italics" charset="1" panose="020408030504060A0204"/>
      <p:regular r:id="rId21"/>
    </p:embeddedFont>
    <p:embeddedFont>
      <p:font typeface="Calibri (MS) Italics" charset="1" panose="020F05020202040A0204"/>
      <p:regular r:id="rId22"/>
    </p:embeddedFont>
    <p:embeddedFont>
      <p:font typeface="Calibri (MS)" charset="1" panose="020F050202020403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10.png" Type="http://schemas.openxmlformats.org/officeDocument/2006/relationships/image"/><Relationship Id="rId5" Target="../media/image6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12.png" Type="http://schemas.openxmlformats.org/officeDocument/2006/relationships/image"/><Relationship Id="rId5" Target="../media/image7.png" Type="http://schemas.openxmlformats.org/officeDocument/2006/relationships/image"/><Relationship Id="rId6" Target="../media/image6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8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0.png" Type="http://schemas.openxmlformats.org/officeDocument/2006/relationships/image"/><Relationship Id="rId4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-2194560"/>
            <a:ext cx="7543800" cy="7543800"/>
            <a:chOff x="0" y="0"/>
            <a:chExt cx="10058400" cy="1005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087E8B">
                <a:alpha val="470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468880" y="6583680"/>
            <a:ext cx="6858000" cy="6858000"/>
            <a:chOff x="0" y="0"/>
            <a:chExt cx="9144000" cy="914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FF6B35">
                <a:alpha val="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1234440"/>
            <a:ext cx="1508760" cy="1508760"/>
            <a:chOff x="0" y="0"/>
            <a:chExt cx="2011680" cy="2011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1005840"/>
                  </a:moveTo>
                  <a:cubicBezTo>
                    <a:pt x="0" y="450342"/>
                    <a:pt x="450342" y="0"/>
                    <a:pt x="1005840" y="0"/>
                  </a:cubicBezTo>
                  <a:cubicBezTo>
                    <a:pt x="1561338" y="0"/>
                    <a:pt x="2011680" y="450342"/>
                    <a:pt x="2011680" y="1005840"/>
                  </a:cubicBezTo>
                  <a:cubicBezTo>
                    <a:pt x="2011680" y="1561338"/>
                    <a:pt x="1561338" y="2011680"/>
                    <a:pt x="1005840" y="2011680"/>
                  </a:cubicBezTo>
                  <a:cubicBezTo>
                    <a:pt x="450342" y="2011680"/>
                    <a:pt x="0" y="1561338"/>
                    <a:pt x="0" y="1005840"/>
                  </a:cubicBezTo>
                  <a:close/>
                </a:path>
              </a:pathLst>
            </a:custGeom>
            <a:solidFill>
              <a:srgbClr val="087E8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32204" y="1632204"/>
            <a:ext cx="713232" cy="713232"/>
            <a:chOff x="0" y="0"/>
            <a:chExt cx="950976" cy="950976"/>
          </a:xfrm>
        </p:grpSpPr>
        <p:sp>
          <p:nvSpPr>
            <p:cNvPr name="Freeform 9" id="9" descr="icons/mobile_white.png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948940"/>
            <a:ext cx="10972800" cy="548640"/>
            <a:chOff x="0" y="0"/>
            <a:chExt cx="146304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5FA8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KELOMPOK 2  •  MOBILE APPLICATION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3566160"/>
            <a:ext cx="14538960" cy="2743200"/>
            <a:chOff x="0" y="0"/>
            <a:chExt cx="19385280" cy="3657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852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9385280" cy="3705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48"/>
                </a:lnSpc>
              </a:pPr>
              <a:r>
                <a:rPr lang="en-US" sz="40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Sistem Rekomendasi Karyawan Teladan Berdasarkan Key Performance Indicator dengan Neural Collaborative Filtering Berbasis Mobile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4440" y="6240780"/>
            <a:ext cx="10972800" cy="754380"/>
            <a:chOff x="0" y="0"/>
            <a:chExt cx="14630400" cy="1005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3418" r="0" b="-23341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46304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 i="true">
                  <a:solidFill>
                    <a:srgbClr val="FF6B35"/>
                  </a:solidFill>
                  <a:latin typeface="Cambria Bold Italics"/>
                  <a:ea typeface="Cambria Bold Italics"/>
                  <a:cs typeface="Cambria Bold Italics"/>
                  <a:sym typeface="Cambria Bold Italics"/>
                </a:rPr>
                <a:t>Talent Achieve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34440" y="7063740"/>
            <a:ext cx="12344400" cy="617220"/>
            <a:chOff x="0" y="0"/>
            <a:chExt cx="16459200" cy="822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459200" cy="822960"/>
            </a:xfrm>
            <a:custGeom>
              <a:avLst/>
              <a:gdLst/>
              <a:ahLst/>
              <a:cxnLst/>
              <a:rect r="r" b="b" t="t" l="l"/>
              <a:pathLst>
                <a:path h="8229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645920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CADCE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Transformasi Digital untuk Evaluasi Kinerja Karyawan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34440" y="8366760"/>
            <a:ext cx="15773400" cy="1440180"/>
            <a:chOff x="0" y="0"/>
            <a:chExt cx="21031200" cy="19202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0312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577340" y="8558784"/>
            <a:ext cx="7406640" cy="521208"/>
            <a:chOff x="0" y="0"/>
            <a:chExt cx="9875520" cy="6949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875520" cy="694944"/>
            </a:xfrm>
            <a:custGeom>
              <a:avLst/>
              <a:gdLst/>
              <a:ahLst/>
              <a:cxnLst/>
              <a:rect r="r" b="b" t="t" l="l"/>
              <a:pathLst>
                <a:path h="694944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6892" r="0" b="-22689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87552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Berkat Perdana Saragih — 20230801170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77340" y="9079992"/>
            <a:ext cx="7406640" cy="521208"/>
            <a:chOff x="0" y="0"/>
            <a:chExt cx="9875520" cy="69494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875520" cy="694944"/>
            </a:xfrm>
            <a:custGeom>
              <a:avLst/>
              <a:gdLst/>
              <a:ahLst/>
              <a:cxnLst/>
              <a:rect r="r" b="b" t="t" l="l"/>
              <a:pathLst>
                <a:path h="694944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6892" r="0" b="-22689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87552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Oscar Adi Dharma — 20230801056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395460" y="8558784"/>
            <a:ext cx="7406640" cy="521208"/>
            <a:chOff x="0" y="0"/>
            <a:chExt cx="9875520" cy="6949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875520" cy="694944"/>
            </a:xfrm>
            <a:custGeom>
              <a:avLst/>
              <a:gdLst/>
              <a:ahLst/>
              <a:cxnLst/>
              <a:rect r="r" b="b" t="t" l="l"/>
              <a:pathLst>
                <a:path h="694944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6892" r="0" b="-22689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987552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Galih Adhi Kusuma — 20230801245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95460" y="9134856"/>
            <a:ext cx="7406640" cy="521208"/>
            <a:chOff x="0" y="0"/>
            <a:chExt cx="9875520" cy="6949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875520" cy="694944"/>
            </a:xfrm>
            <a:custGeom>
              <a:avLst/>
              <a:gdLst/>
              <a:ahLst/>
              <a:cxnLst/>
              <a:rect r="r" b="b" t="t" l="l"/>
              <a:pathLst>
                <a:path h="694944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6892" r="0" b="-22689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87552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Firschanya Alula Rietmadha — 20230801438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596360" cy="1097280"/>
            <a:chOff x="0" y="0"/>
            <a:chExt cx="2212848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11" r="0" b="-24471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2848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Mengapa Kita Membutuhkan Ini?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0972800" cy="411480"/>
            <a:chOff x="0" y="0"/>
            <a:chExt cx="14630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00">
                  <a:solidFill>
                    <a:srgbClr val="087E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LATAR BELAKANG MASALAH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400300"/>
            <a:ext cx="1165860" cy="1165860"/>
            <a:chOff x="0" y="0"/>
            <a:chExt cx="1554480" cy="155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0B395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3866" y="2654046"/>
            <a:ext cx="658368" cy="658368"/>
            <a:chOff x="0" y="0"/>
            <a:chExt cx="877824" cy="877824"/>
          </a:xfrm>
        </p:grpSpPr>
        <p:sp>
          <p:nvSpPr>
            <p:cNvPr name="Freeform 11" id="11" descr="icons/file_white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606040" y="2331720"/>
            <a:ext cx="14401800" cy="617220"/>
            <a:chOff x="0" y="0"/>
            <a:chExt cx="19202400" cy="822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202400" cy="822960"/>
            </a:xfrm>
            <a:custGeom>
              <a:avLst/>
              <a:gdLst/>
              <a:ahLst/>
              <a:cxnLst/>
              <a:rect r="r" b="b" t="t" l="l"/>
              <a:pathLst>
                <a:path h="8229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920240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Evaluasi Manual &amp; Tidak Terdokumentasi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606040" y="2621280"/>
            <a:ext cx="14538960" cy="1028700"/>
            <a:chOff x="0" y="0"/>
            <a:chExt cx="19385280" cy="1371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852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388" r="0" b="-22538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19385280" cy="1466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499">
                  <a:solidFill>
                    <a:srgbClr val="5B6B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Proses penilaian kinerja karyawan masih dilakukan secara manual, membuat data sulit dilacak dan rawan hilang.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60120" y="4663440"/>
            <a:ext cx="1165860" cy="1165860"/>
            <a:chOff x="0" y="0"/>
            <a:chExt cx="1554480" cy="1554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0B395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13866" y="4917186"/>
            <a:ext cx="658368" cy="658368"/>
            <a:chOff x="0" y="0"/>
            <a:chExt cx="877824" cy="877824"/>
          </a:xfrm>
        </p:grpSpPr>
        <p:sp>
          <p:nvSpPr>
            <p:cNvPr name="Freeform 21" id="21" descr="icons/bullseye_white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606040" y="4594860"/>
            <a:ext cx="14401800" cy="617220"/>
            <a:chOff x="0" y="0"/>
            <a:chExt cx="19202400" cy="822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202400" cy="822960"/>
            </a:xfrm>
            <a:custGeom>
              <a:avLst/>
              <a:gdLst/>
              <a:ahLst/>
              <a:cxnLst/>
              <a:rect r="r" b="b" t="t" l="l"/>
              <a:pathLst>
                <a:path h="8229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920240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Target KPI Tidak Transparan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606040" y="5124450"/>
            <a:ext cx="14538960" cy="1028700"/>
            <a:chOff x="0" y="0"/>
            <a:chExt cx="19385280" cy="1371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3852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388" r="0" b="-22538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19385280" cy="1466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499">
                  <a:solidFill>
                    <a:srgbClr val="5B6B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Karyawan kesulitan mengetahui capaian target KPI mereka secara real-time, sehingga sulit mengukur performa sendiri.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60120" y="6926580"/>
            <a:ext cx="1165860" cy="1165860"/>
            <a:chOff x="0" y="0"/>
            <a:chExt cx="1554480" cy="1554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0B395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13866" y="7180326"/>
            <a:ext cx="658368" cy="658368"/>
            <a:chOff x="0" y="0"/>
            <a:chExt cx="877824" cy="877824"/>
          </a:xfrm>
        </p:grpSpPr>
        <p:sp>
          <p:nvSpPr>
            <p:cNvPr name="Freeform 31" id="31" descr="icons/clock_white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606040" y="6858000"/>
            <a:ext cx="14401800" cy="617220"/>
            <a:chOff x="0" y="0"/>
            <a:chExt cx="19202400" cy="8229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202400" cy="822960"/>
            </a:xfrm>
            <a:custGeom>
              <a:avLst/>
              <a:gdLst/>
              <a:ahLst/>
              <a:cxnLst/>
              <a:rect r="r" b="b" t="t" l="l"/>
              <a:pathLst>
                <a:path h="8229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920240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Proses HR yang Lambat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606040" y="7437120"/>
            <a:ext cx="14538960" cy="1028700"/>
            <a:chOff x="0" y="0"/>
            <a:chExt cx="19385280" cy="1371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3852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388" r="0" b="-22538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0"/>
              <a:ext cx="19385280" cy="1466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499">
                  <a:solidFill>
                    <a:srgbClr val="5B6B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 HR membutuhkan waktu lama untuk mengumpulkan dan merekap data performa di akhir tahun atau kuartal.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85800" y="9669780"/>
            <a:ext cx="5486400" cy="411480"/>
            <a:chOff x="0" y="0"/>
            <a:chExt cx="731520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5B6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TALENT ACHIEVE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00">
                  <a:solidFill>
                    <a:srgbClr val="FF6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SOLUSI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24712"/>
            <a:ext cx="8503920" cy="1371600"/>
            <a:chOff x="0" y="0"/>
            <a:chExt cx="1133856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38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133856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Talent Achieve App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811780"/>
            <a:ext cx="8503920" cy="1783080"/>
            <a:chOff x="0" y="0"/>
            <a:chExt cx="11338560" cy="2377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385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928" r="0" b="-4292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1338560" cy="2501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9"/>
                </a:lnSpc>
              </a:pPr>
              <a:r>
                <a:rPr lang="en-US" sz="2499">
                  <a:solidFill>
                    <a:srgbClr val="D7E4E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Sebuah aplikasi mobile terintegrasi untuk melacak, mengelola, dan mengukur performa karyawan (KPI) secara transparan.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4869180"/>
            <a:ext cx="8503920" cy="1783080"/>
            <a:chOff x="0" y="0"/>
            <a:chExt cx="11338560" cy="2377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385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928" r="0" b="-4292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11338560" cy="2501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9"/>
                </a:lnSpc>
              </a:pPr>
              <a:r>
                <a:rPr lang="en-US" sz="2499">
                  <a:solidFill>
                    <a:srgbClr val="D7E4E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Menghubungkan manajemen (HRD) dan karyawan dalam satu platform yang mudah digunakan kapan saja, di mana saja.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913870" y="1009650"/>
            <a:ext cx="4701540" cy="8267700"/>
            <a:chOff x="0" y="0"/>
            <a:chExt cx="6268720" cy="11023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268720" cy="11023600"/>
            </a:xfrm>
            <a:custGeom>
              <a:avLst/>
              <a:gdLst/>
              <a:ahLst/>
              <a:cxnLst/>
              <a:rect r="r" b="b" t="t" l="l"/>
              <a:pathLst>
                <a:path h="11023600" w="6268720">
                  <a:moveTo>
                    <a:pt x="0" y="645287"/>
                  </a:moveTo>
                  <a:cubicBezTo>
                    <a:pt x="0" y="288925"/>
                    <a:pt x="288925" y="0"/>
                    <a:pt x="645287" y="0"/>
                  </a:cubicBezTo>
                  <a:lnTo>
                    <a:pt x="5623433" y="0"/>
                  </a:lnTo>
                  <a:cubicBezTo>
                    <a:pt x="5979795" y="0"/>
                    <a:pt x="6268720" y="288925"/>
                    <a:pt x="6268720" y="645287"/>
                  </a:cubicBezTo>
                  <a:lnTo>
                    <a:pt x="6268720" y="10378313"/>
                  </a:lnTo>
                  <a:cubicBezTo>
                    <a:pt x="6268720" y="10734675"/>
                    <a:pt x="5979795" y="11023600"/>
                    <a:pt x="5623433" y="11023600"/>
                  </a:cubicBezTo>
                  <a:lnTo>
                    <a:pt x="645287" y="11023600"/>
                  </a:lnTo>
                  <a:cubicBezTo>
                    <a:pt x="288925" y="11023600"/>
                    <a:pt x="0" y="10734675"/>
                    <a:pt x="0" y="10378313"/>
                  </a:cubicBezTo>
                  <a:close/>
                </a:path>
              </a:pathLst>
            </a:custGeom>
            <a:solidFill>
              <a:srgbClr val="071F2E"/>
            </a:solidFill>
            <a:ln w="38100" cap="sq">
              <a:solidFill>
                <a:srgbClr val="5FA8B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2138660" y="1440180"/>
            <a:ext cx="4251960" cy="7406640"/>
            <a:chOff x="0" y="0"/>
            <a:chExt cx="5669280" cy="9875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69280" cy="9875520"/>
            </a:xfrm>
            <a:custGeom>
              <a:avLst/>
              <a:gdLst/>
              <a:ahLst/>
              <a:cxnLst/>
              <a:rect r="r" b="b" t="t" l="l"/>
              <a:pathLst>
                <a:path h="9875520" w="566928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5394960" y="0"/>
                  </a:lnTo>
                  <a:cubicBezTo>
                    <a:pt x="5546471" y="0"/>
                    <a:pt x="5669280" y="122809"/>
                    <a:pt x="5669280" y="274320"/>
                  </a:cubicBezTo>
                  <a:lnTo>
                    <a:pt x="5669280" y="9601200"/>
                  </a:lnTo>
                  <a:cubicBezTo>
                    <a:pt x="5669280" y="9752711"/>
                    <a:pt x="5546471" y="9875520"/>
                    <a:pt x="5394960" y="9875520"/>
                  </a:cubicBezTo>
                  <a:lnTo>
                    <a:pt x="274320" y="9875520"/>
                  </a:lnTo>
                  <a:cubicBezTo>
                    <a:pt x="122809" y="9875520"/>
                    <a:pt x="0" y="9752711"/>
                    <a:pt x="0" y="9601200"/>
                  </a:cubicBezTo>
                  <a:close/>
                </a:path>
              </a:pathLst>
            </a:custGeom>
            <a:solidFill>
              <a:srgbClr val="F4F7F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138660" y="1604772"/>
            <a:ext cx="4251960" cy="480060"/>
            <a:chOff x="0" y="0"/>
            <a:chExt cx="566928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69280" cy="640080"/>
            </a:xfrm>
            <a:custGeom>
              <a:avLst/>
              <a:gdLst/>
              <a:ahLst/>
              <a:cxnLst/>
              <a:rect r="r" b="b" t="t" l="l"/>
              <a:pathLst>
                <a:path h="64008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56692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Talent Achieve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03455" y="2322195"/>
            <a:ext cx="3722370" cy="2076450"/>
            <a:chOff x="0" y="0"/>
            <a:chExt cx="4963160" cy="2768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63160" cy="2768600"/>
            </a:xfrm>
            <a:custGeom>
              <a:avLst/>
              <a:gdLst/>
              <a:ahLst/>
              <a:cxnLst/>
              <a:rect r="r" b="b" t="t" l="l"/>
              <a:pathLst>
                <a:path h="2768600" w="496316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4741672" y="0"/>
                  </a:lnTo>
                  <a:cubicBezTo>
                    <a:pt x="4863973" y="0"/>
                    <a:pt x="4963160" y="99187"/>
                    <a:pt x="4963160" y="221488"/>
                  </a:cubicBezTo>
                  <a:lnTo>
                    <a:pt x="4963160" y="2547112"/>
                  </a:lnTo>
                  <a:cubicBezTo>
                    <a:pt x="4963160" y="2669413"/>
                    <a:pt x="4863973" y="2768600"/>
                    <a:pt x="4741672" y="2768600"/>
                  </a:cubicBezTo>
                  <a:lnTo>
                    <a:pt x="221488" y="2768600"/>
                  </a:lnTo>
                  <a:cubicBezTo>
                    <a:pt x="99187" y="2768600"/>
                    <a:pt x="0" y="2669413"/>
                    <a:pt x="0" y="25471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EA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2618720" y="2468880"/>
            <a:ext cx="3291840" cy="411480"/>
            <a:chOff x="0" y="0"/>
            <a:chExt cx="438912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89120" cy="548640"/>
            </a:xfrm>
            <a:custGeom>
              <a:avLst/>
              <a:gdLst/>
              <a:ahLst/>
              <a:cxnLst/>
              <a:rect r="r" b="b" t="t" l="l"/>
              <a:pathLst>
                <a:path h="5486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3891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Pencapaian KPI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618720" y="2811780"/>
            <a:ext cx="3291840" cy="754380"/>
            <a:chOff x="0" y="0"/>
            <a:chExt cx="4389120" cy="1005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89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438912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87E8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87%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618720" y="3771900"/>
            <a:ext cx="3291840" cy="246888"/>
            <a:chOff x="0" y="0"/>
            <a:chExt cx="4389120" cy="3291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89120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224528" y="0"/>
                  </a:lnTo>
                  <a:cubicBezTo>
                    <a:pt x="4315460" y="0"/>
                    <a:pt x="4389120" y="73660"/>
                    <a:pt x="4389120" y="164592"/>
                  </a:cubicBezTo>
                  <a:cubicBezTo>
                    <a:pt x="4389120" y="255524"/>
                    <a:pt x="4315460" y="329184"/>
                    <a:pt x="4224528" y="329184"/>
                  </a:cubicBezTo>
                  <a:lnTo>
                    <a:pt x="164592" y="329184"/>
                  </a:lnTo>
                  <a:cubicBezTo>
                    <a:pt x="73660" y="329184"/>
                    <a:pt x="0" y="255524"/>
                    <a:pt x="0" y="164592"/>
                  </a:cubicBezTo>
                  <a:close/>
                </a:path>
              </a:pathLst>
            </a:custGeom>
            <a:solidFill>
              <a:srgbClr val="E2E8E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618720" y="3771900"/>
            <a:ext cx="2863901" cy="246888"/>
            <a:chOff x="0" y="0"/>
            <a:chExt cx="3818534" cy="3291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18509" cy="329184"/>
            </a:xfrm>
            <a:custGeom>
              <a:avLst/>
              <a:gdLst/>
              <a:ahLst/>
              <a:cxnLst/>
              <a:rect r="r" b="b" t="t" l="l"/>
              <a:pathLst>
                <a:path h="329184" w="3818509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653917" y="0"/>
                  </a:lnTo>
                  <a:cubicBezTo>
                    <a:pt x="3744849" y="0"/>
                    <a:pt x="3818509" y="73660"/>
                    <a:pt x="3818509" y="164592"/>
                  </a:cubicBezTo>
                  <a:cubicBezTo>
                    <a:pt x="3818509" y="255524"/>
                    <a:pt x="3744849" y="329184"/>
                    <a:pt x="3653917" y="329184"/>
                  </a:cubicBezTo>
                  <a:lnTo>
                    <a:pt x="164592" y="329184"/>
                  </a:lnTo>
                  <a:cubicBezTo>
                    <a:pt x="73660" y="329184"/>
                    <a:pt x="0" y="255524"/>
                    <a:pt x="0" y="164592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403455" y="4791075"/>
            <a:ext cx="3722370" cy="910590"/>
            <a:chOff x="0" y="0"/>
            <a:chExt cx="4963160" cy="12141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963160" cy="1214120"/>
            </a:xfrm>
            <a:custGeom>
              <a:avLst/>
              <a:gdLst/>
              <a:ahLst/>
              <a:cxnLst/>
              <a:rect r="r" b="b" t="t" l="l"/>
              <a:pathLst>
                <a:path h="1214120" w="4963160">
                  <a:moveTo>
                    <a:pt x="0" y="186817"/>
                  </a:moveTo>
                  <a:cubicBezTo>
                    <a:pt x="0" y="83693"/>
                    <a:pt x="83693" y="0"/>
                    <a:pt x="186817" y="0"/>
                  </a:cubicBezTo>
                  <a:lnTo>
                    <a:pt x="4776343" y="0"/>
                  </a:lnTo>
                  <a:cubicBezTo>
                    <a:pt x="4879467" y="0"/>
                    <a:pt x="4963160" y="83693"/>
                    <a:pt x="4963160" y="186817"/>
                  </a:cubicBezTo>
                  <a:lnTo>
                    <a:pt x="4963160" y="1027303"/>
                  </a:lnTo>
                  <a:cubicBezTo>
                    <a:pt x="4963160" y="1130427"/>
                    <a:pt x="4879467" y="1214120"/>
                    <a:pt x="4776343" y="1214120"/>
                  </a:cubicBezTo>
                  <a:lnTo>
                    <a:pt x="186817" y="1214120"/>
                  </a:lnTo>
                  <a:cubicBezTo>
                    <a:pt x="83693" y="1214120"/>
                    <a:pt x="0" y="1130427"/>
                    <a:pt x="0" y="102730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EA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618720" y="4992624"/>
            <a:ext cx="493776" cy="493776"/>
            <a:chOff x="0" y="0"/>
            <a:chExt cx="658368" cy="658368"/>
          </a:xfrm>
        </p:grpSpPr>
        <p:sp>
          <p:nvSpPr>
            <p:cNvPr name="Freeform 36" id="36" descr="icons/chart_bar_teal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304520" y="4800600"/>
            <a:ext cx="2743200" cy="891540"/>
            <a:chOff x="0" y="0"/>
            <a:chExt cx="3657600" cy="11887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57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6576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0B39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403455" y="5956935"/>
            <a:ext cx="3722370" cy="910590"/>
            <a:chOff x="0" y="0"/>
            <a:chExt cx="4963160" cy="12141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963160" cy="1214120"/>
            </a:xfrm>
            <a:custGeom>
              <a:avLst/>
              <a:gdLst/>
              <a:ahLst/>
              <a:cxnLst/>
              <a:rect r="r" b="b" t="t" l="l"/>
              <a:pathLst>
                <a:path h="1214120" w="4963160">
                  <a:moveTo>
                    <a:pt x="0" y="186817"/>
                  </a:moveTo>
                  <a:cubicBezTo>
                    <a:pt x="0" y="83693"/>
                    <a:pt x="83693" y="0"/>
                    <a:pt x="186817" y="0"/>
                  </a:cubicBezTo>
                  <a:lnTo>
                    <a:pt x="4776343" y="0"/>
                  </a:lnTo>
                  <a:cubicBezTo>
                    <a:pt x="4879467" y="0"/>
                    <a:pt x="4963160" y="83693"/>
                    <a:pt x="4963160" y="186817"/>
                  </a:cubicBezTo>
                  <a:lnTo>
                    <a:pt x="4963160" y="1027303"/>
                  </a:lnTo>
                  <a:cubicBezTo>
                    <a:pt x="4963160" y="1130427"/>
                    <a:pt x="4879467" y="1214120"/>
                    <a:pt x="4776343" y="1214120"/>
                  </a:cubicBezTo>
                  <a:lnTo>
                    <a:pt x="186817" y="1214120"/>
                  </a:lnTo>
                  <a:cubicBezTo>
                    <a:pt x="83693" y="1214120"/>
                    <a:pt x="0" y="1130427"/>
                    <a:pt x="0" y="102730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EA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618720" y="6158484"/>
            <a:ext cx="493776" cy="493776"/>
            <a:chOff x="0" y="0"/>
            <a:chExt cx="658368" cy="658368"/>
          </a:xfrm>
        </p:grpSpPr>
        <p:sp>
          <p:nvSpPr>
            <p:cNvPr name="Freeform 43" id="43" descr="icons/clipboard_check_teal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304520" y="5966460"/>
            <a:ext cx="2743200" cy="891540"/>
            <a:chOff x="0" y="0"/>
            <a:chExt cx="3657600" cy="1188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57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36576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0B39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Evaluasi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403455" y="7122795"/>
            <a:ext cx="3722370" cy="910590"/>
            <a:chOff x="0" y="0"/>
            <a:chExt cx="4963160" cy="12141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963160" cy="1214120"/>
            </a:xfrm>
            <a:custGeom>
              <a:avLst/>
              <a:gdLst/>
              <a:ahLst/>
              <a:cxnLst/>
              <a:rect r="r" b="b" t="t" l="l"/>
              <a:pathLst>
                <a:path h="1214120" w="4963160">
                  <a:moveTo>
                    <a:pt x="0" y="186817"/>
                  </a:moveTo>
                  <a:cubicBezTo>
                    <a:pt x="0" y="83693"/>
                    <a:pt x="83693" y="0"/>
                    <a:pt x="186817" y="0"/>
                  </a:cubicBezTo>
                  <a:lnTo>
                    <a:pt x="4776343" y="0"/>
                  </a:lnTo>
                  <a:cubicBezTo>
                    <a:pt x="4879467" y="0"/>
                    <a:pt x="4963160" y="83693"/>
                    <a:pt x="4963160" y="186817"/>
                  </a:cubicBezTo>
                  <a:lnTo>
                    <a:pt x="4963160" y="1027303"/>
                  </a:lnTo>
                  <a:cubicBezTo>
                    <a:pt x="4963160" y="1130427"/>
                    <a:pt x="4879467" y="1214120"/>
                    <a:pt x="4776343" y="1214120"/>
                  </a:cubicBezTo>
                  <a:lnTo>
                    <a:pt x="186817" y="1214120"/>
                  </a:lnTo>
                  <a:cubicBezTo>
                    <a:pt x="83693" y="1214120"/>
                    <a:pt x="0" y="1130427"/>
                    <a:pt x="0" y="102730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EA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2618720" y="7324344"/>
            <a:ext cx="493776" cy="493776"/>
            <a:chOff x="0" y="0"/>
            <a:chExt cx="658368" cy="658368"/>
          </a:xfrm>
        </p:grpSpPr>
        <p:sp>
          <p:nvSpPr>
            <p:cNvPr name="Freeform 50" id="50" descr="icons/user_circle_teal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304520" y="7132320"/>
            <a:ext cx="2743200" cy="891540"/>
            <a:chOff x="0" y="0"/>
            <a:chExt cx="3657600" cy="11887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657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36576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0B39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Profil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85800" y="9669780"/>
            <a:ext cx="5486400" cy="411480"/>
            <a:chOff x="0" y="0"/>
            <a:chExt cx="7315200" cy="548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9FB3B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TALENT ACHIEVE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FB3B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246888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00">
                  <a:solidFill>
                    <a:srgbClr val="087E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PEMBAGIAN AKSES PENGGUNA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617220"/>
            <a:ext cx="16596360" cy="1097280"/>
            <a:chOff x="0" y="0"/>
            <a:chExt cx="2212848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11" r="0" b="-2447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Satu Aplikasi, Dua Sudut Pandang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3564" y="2811780"/>
            <a:ext cx="7680960" cy="5897880"/>
            <a:chOff x="0" y="0"/>
            <a:chExt cx="10241280" cy="7863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41280" cy="7863839"/>
            </a:xfrm>
            <a:custGeom>
              <a:avLst/>
              <a:gdLst/>
              <a:ahLst/>
              <a:cxnLst/>
              <a:rect r="r" b="b" t="t" l="l"/>
              <a:pathLst>
                <a:path h="7863839" w="1024128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9985248" y="0"/>
                  </a:lnTo>
                  <a:cubicBezTo>
                    <a:pt x="10126599" y="0"/>
                    <a:pt x="10241280" y="114681"/>
                    <a:pt x="10241280" y="256032"/>
                  </a:cubicBezTo>
                  <a:lnTo>
                    <a:pt x="10241280" y="7607808"/>
                  </a:lnTo>
                  <a:cubicBezTo>
                    <a:pt x="10241280" y="7749159"/>
                    <a:pt x="10126599" y="7863839"/>
                    <a:pt x="9985248" y="7863839"/>
                  </a:cubicBezTo>
                  <a:lnTo>
                    <a:pt x="256032" y="7863839"/>
                  </a:lnTo>
                  <a:cubicBezTo>
                    <a:pt x="114681" y="7863840"/>
                    <a:pt x="0" y="7749159"/>
                    <a:pt x="0" y="760780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69364" y="3497580"/>
            <a:ext cx="1371600" cy="1371600"/>
            <a:chOff x="0" y="0"/>
            <a:chExt cx="1828800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087E8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57400" y="3785616"/>
            <a:ext cx="795528" cy="795528"/>
            <a:chOff x="0" y="0"/>
            <a:chExt cx="1060704" cy="1060704"/>
          </a:xfrm>
        </p:grpSpPr>
        <p:sp>
          <p:nvSpPr>
            <p:cNvPr name="Freeform 13" id="13" descr="icons/user_circle_white.png"/>
            <p:cNvSpPr/>
            <p:nvPr/>
          </p:nvSpPr>
          <p:spPr>
            <a:xfrm flipH="false" flipV="false" rot="0">
              <a:off x="0" y="0"/>
              <a:ext cx="1060704" cy="1060704"/>
            </a:xfrm>
            <a:custGeom>
              <a:avLst/>
              <a:gdLst/>
              <a:ahLst/>
              <a:cxnLst/>
              <a:rect r="r" b="b" t="t" l="l"/>
              <a:pathLst>
                <a:path h="1060704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69364" y="5212080"/>
            <a:ext cx="6309360" cy="685800"/>
            <a:chOff x="0" y="0"/>
            <a:chExt cx="841248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12480" cy="914400"/>
            </a:xfrm>
            <a:custGeom>
              <a:avLst/>
              <a:gdLst/>
              <a:ahLst/>
              <a:cxnLst/>
              <a:rect r="r" b="b" t="t" l="l"/>
              <a:pathLst>
                <a:path h="9144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84124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Portal Karyawan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69364" y="5856732"/>
            <a:ext cx="6309360" cy="411480"/>
            <a:chOff x="0" y="0"/>
            <a:chExt cx="841248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412480" cy="548640"/>
            </a:xfrm>
            <a:custGeom>
              <a:avLst/>
              <a:gdLst/>
              <a:ahLst/>
              <a:cxnLst/>
              <a:rect r="r" b="b" t="t" l="l"/>
              <a:pathLst>
                <a:path h="54864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84124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225">
                  <a:solidFill>
                    <a:srgbClr val="087E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EMPLOYEE DASHBOARD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69364" y="5799582"/>
            <a:ext cx="6309360" cy="1920240"/>
            <a:chOff x="0" y="0"/>
            <a:chExt cx="8412480" cy="25603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4124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04775"/>
              <a:ext cx="8412480" cy="2665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499">
                  <a:solidFill>
                    <a:srgbClr val="5B6B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Fokus pada pelacakan target pribadi dan progres kinerja harian maupun bulanan secara mandiri.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18904" y="2811780"/>
            <a:ext cx="7680960" cy="5897880"/>
            <a:chOff x="0" y="0"/>
            <a:chExt cx="10241280" cy="7863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41280" cy="7863839"/>
            </a:xfrm>
            <a:custGeom>
              <a:avLst/>
              <a:gdLst/>
              <a:ahLst/>
              <a:cxnLst/>
              <a:rect r="r" b="b" t="t" l="l"/>
              <a:pathLst>
                <a:path h="7863839" w="1024128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9985248" y="0"/>
                  </a:lnTo>
                  <a:cubicBezTo>
                    <a:pt x="10126599" y="0"/>
                    <a:pt x="10241280" y="114681"/>
                    <a:pt x="10241280" y="256032"/>
                  </a:cubicBezTo>
                  <a:lnTo>
                    <a:pt x="10241280" y="7607808"/>
                  </a:lnTo>
                  <a:cubicBezTo>
                    <a:pt x="10241280" y="7749159"/>
                    <a:pt x="10126599" y="7863839"/>
                    <a:pt x="9985248" y="7863839"/>
                  </a:cubicBezTo>
                  <a:lnTo>
                    <a:pt x="256032" y="7863839"/>
                  </a:lnTo>
                  <a:cubicBezTo>
                    <a:pt x="114681" y="7863840"/>
                    <a:pt x="0" y="7749159"/>
                    <a:pt x="0" y="760780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204704" y="3497580"/>
            <a:ext cx="1371600" cy="1371600"/>
            <a:chOff x="0" y="0"/>
            <a:chExt cx="1828800" cy="1828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0B3954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492740" y="3785616"/>
            <a:ext cx="795528" cy="795528"/>
            <a:chOff x="0" y="0"/>
            <a:chExt cx="1060704" cy="1060704"/>
          </a:xfrm>
        </p:grpSpPr>
        <p:sp>
          <p:nvSpPr>
            <p:cNvPr name="Freeform 28" id="28" descr="icons/user_shield_white.png"/>
            <p:cNvSpPr/>
            <p:nvPr/>
          </p:nvSpPr>
          <p:spPr>
            <a:xfrm flipH="false" flipV="false" rot="0">
              <a:off x="0" y="0"/>
              <a:ext cx="1060704" cy="1060704"/>
            </a:xfrm>
            <a:custGeom>
              <a:avLst/>
              <a:gdLst/>
              <a:ahLst/>
              <a:cxnLst/>
              <a:rect r="r" b="b" t="t" l="l"/>
              <a:pathLst>
                <a:path h="1060704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204704" y="5212080"/>
            <a:ext cx="6309360" cy="685800"/>
            <a:chOff x="0" y="0"/>
            <a:chExt cx="841248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412480" cy="914400"/>
            </a:xfrm>
            <a:custGeom>
              <a:avLst/>
              <a:gdLst/>
              <a:ahLst/>
              <a:cxnLst/>
              <a:rect r="r" b="b" t="t" l="l"/>
              <a:pathLst>
                <a:path h="9144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84124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Portal HRD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204704" y="5856732"/>
            <a:ext cx="6309360" cy="411480"/>
            <a:chOff x="0" y="0"/>
            <a:chExt cx="841248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412480" cy="548640"/>
            </a:xfrm>
            <a:custGeom>
              <a:avLst/>
              <a:gdLst/>
              <a:ahLst/>
              <a:cxnLst/>
              <a:rect r="r" b="b" t="t" l="l"/>
              <a:pathLst>
                <a:path h="54864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84124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225">
                  <a:solidFill>
                    <a:srgbClr val="0B39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HR DASHBOARD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185654" y="6005322"/>
            <a:ext cx="6309360" cy="1920240"/>
            <a:chOff x="0" y="0"/>
            <a:chExt cx="8412480" cy="25603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4124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04775"/>
              <a:ext cx="8412480" cy="2665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499">
                  <a:solidFill>
                    <a:srgbClr val="5B6B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Akses khusus untuk memantau performa seluruh tim, melakukan evaluasi, dan mengelola data karyawan.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85800" y="9669780"/>
            <a:ext cx="5486400" cy="411480"/>
            <a:chOff x="0" y="0"/>
            <a:chExt cx="731520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5B6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TALENT ACHIEVE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246888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00">
                  <a:solidFill>
                    <a:srgbClr val="087E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FITUR UTAMA 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617220"/>
            <a:ext cx="9875520" cy="1097280"/>
            <a:chOff x="0" y="0"/>
            <a:chExt cx="1316736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673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316736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Transparansi Kinerja Karyawan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811780"/>
            <a:ext cx="987552" cy="987552"/>
            <a:chOff x="0" y="0"/>
            <a:chExt cx="1316736" cy="13167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087E8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42416" y="3031236"/>
            <a:ext cx="548640" cy="548640"/>
            <a:chOff x="0" y="0"/>
            <a:chExt cx="731520" cy="731520"/>
          </a:xfrm>
        </p:grpSpPr>
        <p:sp>
          <p:nvSpPr>
            <p:cNvPr name="Freeform 11" id="11" descr="icons/chart_line_white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125980" y="2729484"/>
            <a:ext cx="8092440" cy="548640"/>
            <a:chOff x="0" y="0"/>
            <a:chExt cx="1078992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8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07899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Pelacakan KPI Real-time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25980" y="2959989"/>
            <a:ext cx="8092440" cy="1371600"/>
            <a:chOff x="0" y="0"/>
            <a:chExt cx="10789920" cy="182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89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961" r="0" b="-6496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10789920" cy="192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499">
                  <a:solidFill>
                    <a:srgbClr val="5B6B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Karyawan dapat melihat sejauh mana mereka mencapai target yang diberikan, kapan saja.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4937760"/>
            <a:ext cx="987552" cy="987552"/>
            <a:chOff x="0" y="0"/>
            <a:chExt cx="1316736" cy="13167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087E8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42416" y="5157216"/>
            <a:ext cx="548640" cy="548640"/>
            <a:chOff x="0" y="0"/>
            <a:chExt cx="731520" cy="731520"/>
          </a:xfrm>
        </p:grpSpPr>
        <p:sp>
          <p:nvSpPr>
            <p:cNvPr name="Freeform 21" id="21" descr="icons/chart_bar_white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125980" y="4855464"/>
            <a:ext cx="8092440" cy="548640"/>
            <a:chOff x="0" y="0"/>
            <a:chExt cx="1078992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8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07899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Indikator Visual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125980" y="5082159"/>
            <a:ext cx="8092440" cy="1371600"/>
            <a:chOff x="0" y="0"/>
            <a:chExt cx="10789920" cy="1828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89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961" r="0" b="-6496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10789920" cy="192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499">
                  <a:solidFill>
                    <a:srgbClr val="5B6B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Menampilkan grafik atau persentase pencapaian agar mudah dipahami oleh setiap karyawan.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22960" y="7063740"/>
            <a:ext cx="987552" cy="987552"/>
            <a:chOff x="0" y="0"/>
            <a:chExt cx="1316736" cy="131673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087E8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42416" y="7283196"/>
            <a:ext cx="548640" cy="548640"/>
            <a:chOff x="0" y="0"/>
            <a:chExt cx="731520" cy="731520"/>
          </a:xfrm>
        </p:grpSpPr>
        <p:sp>
          <p:nvSpPr>
            <p:cNvPr name="Freeform 31" id="31" descr="icons/bolt_white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125980" y="6981444"/>
            <a:ext cx="8092440" cy="548640"/>
            <a:chOff x="0" y="0"/>
            <a:chExt cx="1078992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8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07899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Motivasi Kerja Meningkat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125980" y="7217664"/>
            <a:ext cx="8092440" cy="1371600"/>
            <a:chOff x="0" y="0"/>
            <a:chExt cx="10789920" cy="1828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89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961" r="0" b="-6496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0"/>
              <a:ext cx="10789920" cy="192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499">
                  <a:solidFill>
                    <a:srgbClr val="5B6B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Target yang jelas dan terukur mendorong semangat kerja yang lebih tinggi.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972800" y="2400300"/>
            <a:ext cx="6446520" cy="6926580"/>
            <a:chOff x="0" y="0"/>
            <a:chExt cx="8595360" cy="9235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595360" cy="9235440"/>
            </a:xfrm>
            <a:custGeom>
              <a:avLst/>
              <a:gdLst/>
              <a:ahLst/>
              <a:cxnLst/>
              <a:rect r="r" b="b" t="t" l="l"/>
              <a:pathLst>
                <a:path h="9235440" w="8595360">
                  <a:moveTo>
                    <a:pt x="0" y="329184"/>
                  </a:moveTo>
                  <a:cubicBezTo>
                    <a:pt x="0" y="147447"/>
                    <a:pt x="147447" y="0"/>
                    <a:pt x="329184" y="0"/>
                  </a:cubicBezTo>
                  <a:lnTo>
                    <a:pt x="8266176" y="0"/>
                  </a:lnTo>
                  <a:cubicBezTo>
                    <a:pt x="8448040" y="0"/>
                    <a:pt x="8595360" y="147447"/>
                    <a:pt x="8595360" y="329184"/>
                  </a:cubicBezTo>
                  <a:lnTo>
                    <a:pt x="8595360" y="8906256"/>
                  </a:lnTo>
                  <a:cubicBezTo>
                    <a:pt x="8595360" y="9088120"/>
                    <a:pt x="8447913" y="9235440"/>
                    <a:pt x="8266176" y="9235440"/>
                  </a:cubicBezTo>
                  <a:lnTo>
                    <a:pt x="329184" y="9235440"/>
                  </a:lnTo>
                  <a:cubicBezTo>
                    <a:pt x="147447" y="9235440"/>
                    <a:pt x="0" y="9087993"/>
                    <a:pt x="0" y="8906256"/>
                  </a:cubicBezTo>
                  <a:close/>
                </a:path>
              </a:pathLst>
            </a:custGeom>
            <a:solidFill>
              <a:srgbClr val="0B3954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5224760" y="1577340"/>
            <a:ext cx="3017520" cy="3017520"/>
            <a:chOff x="0" y="0"/>
            <a:chExt cx="4023360" cy="40233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023360" cy="4023360"/>
            </a:xfrm>
            <a:custGeom>
              <a:avLst/>
              <a:gdLst/>
              <a:ahLst/>
              <a:cxnLst/>
              <a:rect r="r" b="b" t="t" l="l"/>
              <a:pathLst>
                <a:path h="4023360" w="4023360">
                  <a:moveTo>
                    <a:pt x="0" y="2011680"/>
                  </a:moveTo>
                  <a:cubicBezTo>
                    <a:pt x="0" y="900684"/>
                    <a:pt x="900684" y="0"/>
                    <a:pt x="2011680" y="0"/>
                  </a:cubicBezTo>
                  <a:cubicBezTo>
                    <a:pt x="3122676" y="0"/>
                    <a:pt x="4023360" y="900684"/>
                    <a:pt x="4023360" y="2011680"/>
                  </a:cubicBezTo>
                  <a:cubicBezTo>
                    <a:pt x="4023360" y="3122676"/>
                    <a:pt x="3122676" y="4023360"/>
                    <a:pt x="2011680" y="4023360"/>
                  </a:cubicBezTo>
                  <a:cubicBezTo>
                    <a:pt x="900684" y="4023360"/>
                    <a:pt x="0" y="3122676"/>
                    <a:pt x="0" y="2011680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961620" y="4423410"/>
            <a:ext cx="2468880" cy="2468880"/>
            <a:chOff x="0" y="0"/>
            <a:chExt cx="3291840" cy="3291840"/>
          </a:xfrm>
        </p:grpSpPr>
        <p:sp>
          <p:nvSpPr>
            <p:cNvPr name="Freeform 43" id="43" descr="icons/chart_line_white.png"/>
            <p:cNvSpPr/>
            <p:nvPr/>
          </p:nvSpPr>
          <p:spPr>
            <a:xfrm flipH="false" flipV="false" rot="0">
              <a:off x="0" y="0"/>
              <a:ext cx="32918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3291840"/>
                  </a:lnTo>
                  <a:lnTo>
                    <a:pt x="0" y="3291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1612880" y="7981950"/>
            <a:ext cx="5166360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Transparansi Kinerja Karyawan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685800" y="9669780"/>
            <a:ext cx="5486400" cy="411480"/>
            <a:chOff x="0" y="0"/>
            <a:chExt cx="731520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5B6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TALENT ACHIEVE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246888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00">
                  <a:solidFill>
                    <a:srgbClr val="087E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FITUR UTAMA 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617220"/>
            <a:ext cx="9875520" cy="1097280"/>
            <a:chOff x="0" y="0"/>
            <a:chExt cx="1316736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673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316736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Kendali Penuh di Tangan HRD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811780"/>
            <a:ext cx="987552" cy="987552"/>
            <a:chOff x="0" y="0"/>
            <a:chExt cx="1316736" cy="13167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0B395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42416" y="3031236"/>
            <a:ext cx="548640" cy="548640"/>
            <a:chOff x="0" y="0"/>
            <a:chExt cx="731520" cy="731520"/>
          </a:xfrm>
        </p:grpSpPr>
        <p:sp>
          <p:nvSpPr>
            <p:cNvPr name="Freeform 11" id="11" descr="icons/users_white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125980" y="2729484"/>
            <a:ext cx="8092440" cy="548640"/>
            <a:chOff x="0" y="0"/>
            <a:chExt cx="1078992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8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07899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Pemantauan Tim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25980" y="2984754"/>
            <a:ext cx="8092440" cy="1371600"/>
            <a:chOff x="0" y="0"/>
            <a:chExt cx="10789920" cy="182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89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961" r="0" b="-6496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10789920" cy="192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499">
                  <a:solidFill>
                    <a:srgbClr val="5B6B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HRD dapat melihat performa individu maupun rata-rata departemen dalam satu tampilan.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4937760"/>
            <a:ext cx="987552" cy="987552"/>
            <a:chOff x="0" y="0"/>
            <a:chExt cx="1316736" cy="13167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0B395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42416" y="5157216"/>
            <a:ext cx="548640" cy="548640"/>
            <a:chOff x="0" y="0"/>
            <a:chExt cx="731520" cy="731520"/>
          </a:xfrm>
        </p:grpSpPr>
        <p:sp>
          <p:nvSpPr>
            <p:cNvPr name="Freeform 21" id="21" descr="icons/clipboard_check_white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125980" y="4855464"/>
            <a:ext cx="8092440" cy="548640"/>
            <a:chOff x="0" y="0"/>
            <a:chExt cx="1078992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8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07899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Evaluasi Mudah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125980" y="5044059"/>
            <a:ext cx="8092440" cy="1371600"/>
            <a:chOff x="0" y="0"/>
            <a:chExt cx="10789920" cy="1828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89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961" r="0" b="-6496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10789920" cy="192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499">
                  <a:solidFill>
                    <a:srgbClr val="5B6B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Proses review dan pemberian nilai (appraisal) dapat dilakukan langsung dari aplikasi.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22960" y="7063740"/>
            <a:ext cx="987552" cy="987552"/>
            <a:chOff x="0" y="0"/>
            <a:chExt cx="1316736" cy="131673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0B395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42416" y="7283196"/>
            <a:ext cx="548640" cy="548640"/>
            <a:chOff x="0" y="0"/>
            <a:chExt cx="731520" cy="731520"/>
          </a:xfrm>
        </p:grpSpPr>
        <p:sp>
          <p:nvSpPr>
            <p:cNvPr name="Freeform 31" id="31" descr="icons/chart_bar_white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125980" y="6981444"/>
            <a:ext cx="8092440" cy="548640"/>
            <a:chOff x="0" y="0"/>
            <a:chExt cx="1078992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8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07899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Keputusan Berbasis Data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125980" y="7264146"/>
            <a:ext cx="8092440" cy="1371600"/>
            <a:chOff x="0" y="0"/>
            <a:chExt cx="10789920" cy="1828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89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961" r="0" b="-6496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0"/>
              <a:ext cx="10789920" cy="192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499">
                  <a:solidFill>
                    <a:srgbClr val="5B6B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Promosi dan bonus didukung oleh data akurat dan objektif (Data-Driven).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972800" y="2400300"/>
            <a:ext cx="6446520" cy="6926580"/>
            <a:chOff x="0" y="0"/>
            <a:chExt cx="8595360" cy="9235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595360" cy="9235440"/>
            </a:xfrm>
            <a:custGeom>
              <a:avLst/>
              <a:gdLst/>
              <a:ahLst/>
              <a:cxnLst/>
              <a:rect r="r" b="b" t="t" l="l"/>
              <a:pathLst>
                <a:path h="9235440" w="8595360">
                  <a:moveTo>
                    <a:pt x="0" y="329184"/>
                  </a:moveTo>
                  <a:cubicBezTo>
                    <a:pt x="0" y="147447"/>
                    <a:pt x="147447" y="0"/>
                    <a:pt x="329184" y="0"/>
                  </a:cubicBezTo>
                  <a:lnTo>
                    <a:pt x="8266176" y="0"/>
                  </a:lnTo>
                  <a:cubicBezTo>
                    <a:pt x="8448040" y="0"/>
                    <a:pt x="8595360" y="147447"/>
                    <a:pt x="8595360" y="329184"/>
                  </a:cubicBezTo>
                  <a:lnTo>
                    <a:pt x="8595360" y="8906256"/>
                  </a:lnTo>
                  <a:cubicBezTo>
                    <a:pt x="8595360" y="9088120"/>
                    <a:pt x="8447913" y="9235440"/>
                    <a:pt x="8266176" y="9235440"/>
                  </a:cubicBezTo>
                  <a:lnTo>
                    <a:pt x="329184" y="9235440"/>
                  </a:lnTo>
                  <a:cubicBezTo>
                    <a:pt x="147447" y="9235440"/>
                    <a:pt x="0" y="9087993"/>
                    <a:pt x="0" y="8906256"/>
                  </a:cubicBezTo>
                  <a:close/>
                </a:path>
              </a:pathLst>
            </a:custGeom>
            <a:solidFill>
              <a:srgbClr val="0B3954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5224760" y="1577340"/>
            <a:ext cx="3017520" cy="3017520"/>
            <a:chOff x="0" y="0"/>
            <a:chExt cx="4023360" cy="40233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023360" cy="4023360"/>
            </a:xfrm>
            <a:custGeom>
              <a:avLst/>
              <a:gdLst/>
              <a:ahLst/>
              <a:cxnLst/>
              <a:rect r="r" b="b" t="t" l="l"/>
              <a:pathLst>
                <a:path h="4023360" w="4023360">
                  <a:moveTo>
                    <a:pt x="0" y="2011680"/>
                  </a:moveTo>
                  <a:cubicBezTo>
                    <a:pt x="0" y="900684"/>
                    <a:pt x="900684" y="0"/>
                    <a:pt x="2011680" y="0"/>
                  </a:cubicBezTo>
                  <a:cubicBezTo>
                    <a:pt x="3122676" y="0"/>
                    <a:pt x="4023360" y="900684"/>
                    <a:pt x="4023360" y="2011680"/>
                  </a:cubicBezTo>
                  <a:cubicBezTo>
                    <a:pt x="4023360" y="3122676"/>
                    <a:pt x="3122676" y="4023360"/>
                    <a:pt x="2011680" y="4023360"/>
                  </a:cubicBezTo>
                  <a:cubicBezTo>
                    <a:pt x="900684" y="4023360"/>
                    <a:pt x="0" y="3122676"/>
                    <a:pt x="0" y="2011680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961620" y="4423410"/>
            <a:ext cx="2468880" cy="2468880"/>
            <a:chOff x="0" y="0"/>
            <a:chExt cx="3291840" cy="3291840"/>
          </a:xfrm>
        </p:grpSpPr>
        <p:sp>
          <p:nvSpPr>
            <p:cNvPr name="Freeform 43" id="43" descr="icons/user_shield_white.png"/>
            <p:cNvSpPr/>
            <p:nvPr/>
          </p:nvSpPr>
          <p:spPr>
            <a:xfrm flipH="false" flipV="false" rot="0">
              <a:off x="0" y="0"/>
              <a:ext cx="32918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3291840"/>
                  </a:lnTo>
                  <a:lnTo>
                    <a:pt x="0" y="3291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1612880" y="7981950"/>
            <a:ext cx="5166360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Kendali Penuh di Tangan HRD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685800" y="9669780"/>
            <a:ext cx="5486400" cy="411480"/>
            <a:chOff x="0" y="0"/>
            <a:chExt cx="731520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5B6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TALENT ACHIEVE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246888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00">
                  <a:solidFill>
                    <a:srgbClr val="087E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FITUR UTAMA 3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617220"/>
            <a:ext cx="9875520" cy="1097280"/>
            <a:chOff x="0" y="0"/>
            <a:chExt cx="1316736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673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316736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Personalisasi &amp; Keamanan Terpusat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811780"/>
            <a:ext cx="987552" cy="987552"/>
            <a:chOff x="0" y="0"/>
            <a:chExt cx="1316736" cy="13167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087E8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42416" y="3031236"/>
            <a:ext cx="548640" cy="548640"/>
            <a:chOff x="0" y="0"/>
            <a:chExt cx="731520" cy="731520"/>
          </a:xfrm>
        </p:grpSpPr>
        <p:sp>
          <p:nvSpPr>
            <p:cNvPr name="Freeform 11" id="11" descr="icons/user_circle_white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125980" y="2729484"/>
            <a:ext cx="8092440" cy="548640"/>
            <a:chOff x="0" y="0"/>
            <a:chExt cx="1078992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8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07899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Identitas Karyawan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25980" y="3003804"/>
            <a:ext cx="8092440" cy="1371600"/>
            <a:chOff x="0" y="0"/>
            <a:chExt cx="10789920" cy="182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89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961" r="0" b="-6496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10789920" cy="192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499">
                  <a:solidFill>
                    <a:srgbClr val="5B6B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Menampilkan Nama, ID, dan Departemen karyawan dengan jelas di dalam profil.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4937760"/>
            <a:ext cx="987552" cy="987552"/>
            <a:chOff x="0" y="0"/>
            <a:chExt cx="1316736" cy="13167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087E8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42416" y="5157216"/>
            <a:ext cx="548640" cy="548640"/>
            <a:chOff x="0" y="0"/>
            <a:chExt cx="731520" cy="731520"/>
          </a:xfrm>
        </p:grpSpPr>
        <p:sp>
          <p:nvSpPr>
            <p:cNvPr name="Freeform 21" id="21" descr="icons/edit_white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125980" y="4855464"/>
            <a:ext cx="8092440" cy="548640"/>
            <a:chOff x="0" y="0"/>
            <a:chExt cx="1078992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8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07899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Pengaturan Mandiri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125980" y="5196840"/>
            <a:ext cx="8092440" cy="1371600"/>
            <a:chOff x="0" y="0"/>
            <a:chExt cx="10789920" cy="1828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89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961" r="0" b="-6496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10789920" cy="192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499">
                  <a:solidFill>
                    <a:srgbClr val="5B6B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Fitur Edit Profile dan Pusat Bantuan (Help) tersedia langsung di dalam aplikasi.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22960" y="7063740"/>
            <a:ext cx="987552" cy="987552"/>
            <a:chOff x="0" y="0"/>
            <a:chExt cx="1316736" cy="131673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087E8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42416" y="7283196"/>
            <a:ext cx="548640" cy="548640"/>
            <a:chOff x="0" y="0"/>
            <a:chExt cx="731520" cy="731520"/>
          </a:xfrm>
        </p:grpSpPr>
        <p:sp>
          <p:nvSpPr>
            <p:cNvPr name="Freeform 31" id="31" descr="icons/lock_white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125980" y="6981444"/>
            <a:ext cx="8092440" cy="548640"/>
            <a:chOff x="0" y="0"/>
            <a:chExt cx="1078992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8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07899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Keamanan Terjamin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125980" y="7305675"/>
            <a:ext cx="8092440" cy="1371600"/>
            <a:chOff x="0" y="0"/>
            <a:chExt cx="10789920" cy="1828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89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961" r="0" b="-6496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0"/>
              <a:ext cx="10789920" cy="192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499">
                  <a:solidFill>
                    <a:srgbClr val="5B6B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Dilengkapi autentikasi login yang aman dan fitur ubah kata sandi (Security).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972800" y="2400300"/>
            <a:ext cx="6446520" cy="6926580"/>
            <a:chOff x="0" y="0"/>
            <a:chExt cx="8595360" cy="9235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595360" cy="9235440"/>
            </a:xfrm>
            <a:custGeom>
              <a:avLst/>
              <a:gdLst/>
              <a:ahLst/>
              <a:cxnLst/>
              <a:rect r="r" b="b" t="t" l="l"/>
              <a:pathLst>
                <a:path h="9235440" w="8595360">
                  <a:moveTo>
                    <a:pt x="0" y="329184"/>
                  </a:moveTo>
                  <a:cubicBezTo>
                    <a:pt x="0" y="147447"/>
                    <a:pt x="147447" y="0"/>
                    <a:pt x="329184" y="0"/>
                  </a:cubicBezTo>
                  <a:lnTo>
                    <a:pt x="8266176" y="0"/>
                  </a:lnTo>
                  <a:cubicBezTo>
                    <a:pt x="8448040" y="0"/>
                    <a:pt x="8595360" y="147447"/>
                    <a:pt x="8595360" y="329184"/>
                  </a:cubicBezTo>
                  <a:lnTo>
                    <a:pt x="8595360" y="8906256"/>
                  </a:lnTo>
                  <a:cubicBezTo>
                    <a:pt x="8595360" y="9088120"/>
                    <a:pt x="8447913" y="9235440"/>
                    <a:pt x="8266176" y="9235440"/>
                  </a:cubicBezTo>
                  <a:lnTo>
                    <a:pt x="329184" y="9235440"/>
                  </a:lnTo>
                  <a:cubicBezTo>
                    <a:pt x="147447" y="9235440"/>
                    <a:pt x="0" y="9087993"/>
                    <a:pt x="0" y="8906256"/>
                  </a:cubicBezTo>
                  <a:close/>
                </a:path>
              </a:pathLst>
            </a:custGeom>
            <a:solidFill>
              <a:srgbClr val="0B3954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5224760" y="1577340"/>
            <a:ext cx="3017520" cy="3017520"/>
            <a:chOff x="0" y="0"/>
            <a:chExt cx="4023360" cy="40233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023360" cy="4023360"/>
            </a:xfrm>
            <a:custGeom>
              <a:avLst/>
              <a:gdLst/>
              <a:ahLst/>
              <a:cxnLst/>
              <a:rect r="r" b="b" t="t" l="l"/>
              <a:pathLst>
                <a:path h="4023360" w="4023360">
                  <a:moveTo>
                    <a:pt x="0" y="2011680"/>
                  </a:moveTo>
                  <a:cubicBezTo>
                    <a:pt x="0" y="900684"/>
                    <a:pt x="900684" y="0"/>
                    <a:pt x="2011680" y="0"/>
                  </a:cubicBezTo>
                  <a:cubicBezTo>
                    <a:pt x="3122676" y="0"/>
                    <a:pt x="4023360" y="900684"/>
                    <a:pt x="4023360" y="2011680"/>
                  </a:cubicBezTo>
                  <a:cubicBezTo>
                    <a:pt x="4023360" y="3122676"/>
                    <a:pt x="3122676" y="4023360"/>
                    <a:pt x="2011680" y="4023360"/>
                  </a:cubicBezTo>
                  <a:cubicBezTo>
                    <a:pt x="900684" y="4023360"/>
                    <a:pt x="0" y="3122676"/>
                    <a:pt x="0" y="2011680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961620" y="4423410"/>
            <a:ext cx="2468880" cy="2468880"/>
            <a:chOff x="0" y="0"/>
            <a:chExt cx="3291840" cy="3291840"/>
          </a:xfrm>
        </p:grpSpPr>
        <p:sp>
          <p:nvSpPr>
            <p:cNvPr name="Freeform 43" id="43" descr="icons/shield_white.png"/>
            <p:cNvSpPr/>
            <p:nvPr/>
          </p:nvSpPr>
          <p:spPr>
            <a:xfrm flipH="false" flipV="false" rot="0">
              <a:off x="0" y="0"/>
              <a:ext cx="32918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3291840"/>
                  </a:lnTo>
                  <a:lnTo>
                    <a:pt x="0" y="3291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1612880" y="7981950"/>
            <a:ext cx="5166360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Personalisasi &amp; Keamanan Terpusat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685800" y="9669780"/>
            <a:ext cx="5486400" cy="411480"/>
            <a:chOff x="0" y="0"/>
            <a:chExt cx="731520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5B6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TALENT ACHIEVE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246888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00">
                  <a:solidFill>
                    <a:srgbClr val="087E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BENEFITS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617220"/>
            <a:ext cx="16596360" cy="1097280"/>
            <a:chOff x="0" y="0"/>
            <a:chExt cx="2212848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11" r="0" b="-2447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2848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Mengapa Talent Achieve?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6404" y="2948940"/>
            <a:ext cx="5143500" cy="5623560"/>
            <a:chOff x="0" y="0"/>
            <a:chExt cx="6858000" cy="7498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58000" cy="7498080"/>
            </a:xfrm>
            <a:custGeom>
              <a:avLst/>
              <a:gdLst/>
              <a:ahLst/>
              <a:cxnLst/>
              <a:rect r="r" b="b" t="t" l="l"/>
              <a:pathLst>
                <a:path h="7498080" w="685800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6601968" y="0"/>
                  </a:lnTo>
                  <a:cubicBezTo>
                    <a:pt x="6743319" y="0"/>
                    <a:pt x="6858000" y="114681"/>
                    <a:pt x="6858000" y="256032"/>
                  </a:cubicBezTo>
                  <a:lnTo>
                    <a:pt x="6858000" y="7242048"/>
                  </a:lnTo>
                  <a:cubicBezTo>
                    <a:pt x="6858000" y="7383399"/>
                    <a:pt x="6743319" y="7498080"/>
                    <a:pt x="6601968" y="7498080"/>
                  </a:cubicBezTo>
                  <a:lnTo>
                    <a:pt x="256032" y="7498080"/>
                  </a:lnTo>
                  <a:cubicBezTo>
                    <a:pt x="114681" y="7498080"/>
                    <a:pt x="0" y="7383399"/>
                    <a:pt x="0" y="72420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832354" y="3634740"/>
            <a:ext cx="1371600" cy="1371600"/>
            <a:chOff x="0" y="0"/>
            <a:chExt cx="1828800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087E8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120390" y="3922776"/>
            <a:ext cx="795528" cy="795528"/>
            <a:chOff x="0" y="0"/>
            <a:chExt cx="1060704" cy="1060704"/>
          </a:xfrm>
        </p:grpSpPr>
        <p:sp>
          <p:nvSpPr>
            <p:cNvPr name="Freeform 13" id="13" descr="icons/rocket_white.png"/>
            <p:cNvSpPr/>
            <p:nvPr/>
          </p:nvSpPr>
          <p:spPr>
            <a:xfrm flipH="false" flipV="false" rot="0">
              <a:off x="0" y="0"/>
              <a:ext cx="1060704" cy="1060704"/>
            </a:xfrm>
            <a:custGeom>
              <a:avLst/>
              <a:gdLst/>
              <a:ahLst/>
              <a:cxnLst/>
              <a:rect r="r" b="b" t="t" l="l"/>
              <a:pathLst>
                <a:path h="1060704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89304" y="5349240"/>
            <a:ext cx="4457700" cy="685800"/>
            <a:chOff x="0" y="0"/>
            <a:chExt cx="59436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59436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0"/>
                </a:lnSpc>
              </a:pPr>
              <a:r>
                <a:rPr lang="en-US" sz="2475" b="true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Cepat &amp; Ringan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57884" y="5520690"/>
            <a:ext cx="4320540" cy="2194560"/>
            <a:chOff x="0" y="0"/>
            <a:chExt cx="5760720" cy="2926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607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170" t="0" r="-1517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04775"/>
              <a:ext cx="5760720" cy="3030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499">
                  <a:solidFill>
                    <a:srgbClr val="5B6B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Dibangun menggunakan teknologi mobile terkini sehingga sangat responsif digunakan.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69964" y="2948940"/>
            <a:ext cx="5143500" cy="5623560"/>
            <a:chOff x="0" y="0"/>
            <a:chExt cx="6858000" cy="7498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58000" cy="7498080"/>
            </a:xfrm>
            <a:custGeom>
              <a:avLst/>
              <a:gdLst/>
              <a:ahLst/>
              <a:cxnLst/>
              <a:rect r="r" b="b" t="t" l="l"/>
              <a:pathLst>
                <a:path h="7498080" w="685800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6601968" y="0"/>
                  </a:lnTo>
                  <a:cubicBezTo>
                    <a:pt x="6743319" y="0"/>
                    <a:pt x="6858000" y="114681"/>
                    <a:pt x="6858000" y="256032"/>
                  </a:cubicBezTo>
                  <a:lnTo>
                    <a:pt x="6858000" y="7242048"/>
                  </a:lnTo>
                  <a:cubicBezTo>
                    <a:pt x="6858000" y="7383399"/>
                    <a:pt x="6743319" y="7498080"/>
                    <a:pt x="6601968" y="7498080"/>
                  </a:cubicBezTo>
                  <a:lnTo>
                    <a:pt x="256032" y="7498080"/>
                  </a:lnTo>
                  <a:cubicBezTo>
                    <a:pt x="114681" y="7498080"/>
                    <a:pt x="0" y="7383399"/>
                    <a:pt x="0" y="72420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455914" y="3634740"/>
            <a:ext cx="1371600" cy="1371600"/>
            <a:chOff x="0" y="0"/>
            <a:chExt cx="1828800" cy="1828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743950" y="3922776"/>
            <a:ext cx="795528" cy="795528"/>
            <a:chOff x="0" y="0"/>
            <a:chExt cx="1060704" cy="1060704"/>
          </a:xfrm>
        </p:grpSpPr>
        <p:sp>
          <p:nvSpPr>
            <p:cNvPr name="Freeform 25" id="25" descr="icons/sync_white.png"/>
            <p:cNvSpPr/>
            <p:nvPr/>
          </p:nvSpPr>
          <p:spPr>
            <a:xfrm flipH="false" flipV="false" rot="0">
              <a:off x="0" y="0"/>
              <a:ext cx="1060704" cy="1060704"/>
            </a:xfrm>
            <a:custGeom>
              <a:avLst/>
              <a:gdLst/>
              <a:ahLst/>
              <a:cxnLst/>
              <a:rect r="r" b="b" t="t" l="l"/>
              <a:pathLst>
                <a:path h="1060704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912864" y="5349240"/>
            <a:ext cx="4457700" cy="685800"/>
            <a:chOff x="0" y="0"/>
            <a:chExt cx="594360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9436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0"/>
                </a:lnSpc>
              </a:pPr>
              <a:r>
                <a:rPr lang="en-US" sz="2475" b="true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 Tersinkronisasi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981444" y="5330190"/>
            <a:ext cx="4320540" cy="2194560"/>
            <a:chOff x="0" y="0"/>
            <a:chExt cx="5760720" cy="29260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607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170" t="0" r="-1517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04775"/>
              <a:ext cx="5760720" cy="3030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499">
                  <a:solidFill>
                    <a:srgbClr val="5B6B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tersimpan aman di Cloud (Firebase) dan tidak akan hilang.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193524" y="2948940"/>
            <a:ext cx="5143500" cy="5623560"/>
            <a:chOff x="0" y="0"/>
            <a:chExt cx="6858000" cy="7498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58000" cy="7498080"/>
            </a:xfrm>
            <a:custGeom>
              <a:avLst/>
              <a:gdLst/>
              <a:ahLst/>
              <a:cxnLst/>
              <a:rect r="r" b="b" t="t" l="l"/>
              <a:pathLst>
                <a:path h="7498080" w="685800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6601968" y="0"/>
                  </a:lnTo>
                  <a:cubicBezTo>
                    <a:pt x="6743319" y="0"/>
                    <a:pt x="6858000" y="114681"/>
                    <a:pt x="6858000" y="256032"/>
                  </a:cubicBezTo>
                  <a:lnTo>
                    <a:pt x="6858000" y="7242048"/>
                  </a:lnTo>
                  <a:cubicBezTo>
                    <a:pt x="6858000" y="7383399"/>
                    <a:pt x="6743319" y="7498080"/>
                    <a:pt x="6601968" y="7498080"/>
                  </a:cubicBezTo>
                  <a:lnTo>
                    <a:pt x="256032" y="7498080"/>
                  </a:lnTo>
                  <a:cubicBezTo>
                    <a:pt x="114681" y="7498080"/>
                    <a:pt x="0" y="7383399"/>
                    <a:pt x="0" y="72420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079474" y="3634740"/>
            <a:ext cx="1371600" cy="1371600"/>
            <a:chOff x="0" y="0"/>
            <a:chExt cx="1828800" cy="1828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0B3954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367510" y="3922776"/>
            <a:ext cx="795528" cy="795528"/>
            <a:chOff x="0" y="0"/>
            <a:chExt cx="1060704" cy="1060704"/>
          </a:xfrm>
        </p:grpSpPr>
        <p:sp>
          <p:nvSpPr>
            <p:cNvPr name="Freeform 37" id="37" descr="icons/mobile_white.png"/>
            <p:cNvSpPr/>
            <p:nvPr/>
          </p:nvSpPr>
          <p:spPr>
            <a:xfrm flipH="false" flipV="false" rot="0">
              <a:off x="0" y="0"/>
              <a:ext cx="1060704" cy="1060704"/>
            </a:xfrm>
            <a:custGeom>
              <a:avLst/>
              <a:gdLst/>
              <a:ahLst/>
              <a:cxnLst/>
              <a:rect r="r" b="b" t="t" l="l"/>
              <a:pathLst>
                <a:path h="1060704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536424" y="5349240"/>
            <a:ext cx="4457700" cy="685800"/>
            <a:chOff x="0" y="0"/>
            <a:chExt cx="594360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59436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0"/>
                </a:lnSpc>
              </a:pPr>
              <a:r>
                <a:rPr lang="en-US" sz="2475" b="true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User-Friendly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605004" y="5701665"/>
            <a:ext cx="4320540" cy="2194560"/>
            <a:chOff x="0" y="0"/>
            <a:chExt cx="5760720" cy="29260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7607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170" t="0" r="-1517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04775"/>
              <a:ext cx="5760720" cy="3030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499">
                  <a:solidFill>
                    <a:srgbClr val="5B6B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Desain antarmuka (UI) yang modern, intuitif, dan tidak membingungkan bagi pengguna awam.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85800" y="9669780"/>
            <a:ext cx="5486400" cy="411480"/>
            <a:chOff x="0" y="0"/>
            <a:chExt cx="731520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5B6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TALENT ACHIEVE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7400" y="-2057400"/>
            <a:ext cx="6858000" cy="6858000"/>
            <a:chOff x="0" y="0"/>
            <a:chExt cx="9144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087E8B">
                <a:alpha val="313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1028700"/>
            <a:ext cx="8229600" cy="411480"/>
            <a:chOff x="0" y="0"/>
            <a:chExt cx="10972800" cy="5486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00">
                  <a:solidFill>
                    <a:srgbClr val="FF6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RINGKASAN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440180"/>
            <a:ext cx="16596360" cy="1097280"/>
            <a:chOff x="0" y="0"/>
            <a:chExt cx="2212848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8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11" r="0" b="-24471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12848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Kesimpulan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34440" y="3566160"/>
            <a:ext cx="15773400" cy="2125980"/>
            <a:chOff x="0" y="0"/>
            <a:chExt cx="21031200" cy="2834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2834640"/>
            </a:xfrm>
            <a:custGeom>
              <a:avLst/>
              <a:gdLst/>
              <a:ahLst/>
              <a:cxnLst/>
              <a:rect r="r" b="b" t="t" l="l"/>
              <a:pathLst>
                <a:path h="2834640" w="21031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0811744" y="0"/>
                  </a:lnTo>
                  <a:cubicBezTo>
                    <a:pt x="20932902" y="0"/>
                    <a:pt x="21031200" y="98298"/>
                    <a:pt x="21031200" y="219456"/>
                  </a:cubicBezTo>
                  <a:lnTo>
                    <a:pt x="21031200" y="2615184"/>
                  </a:lnTo>
                  <a:cubicBezTo>
                    <a:pt x="21031200" y="2736342"/>
                    <a:pt x="20932902" y="2834640"/>
                    <a:pt x="2081174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45920" y="4142232"/>
            <a:ext cx="987552" cy="987552"/>
            <a:chOff x="0" y="0"/>
            <a:chExt cx="1316736" cy="13167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865376" y="4361688"/>
            <a:ext cx="548640" cy="548640"/>
            <a:chOff x="0" y="0"/>
            <a:chExt cx="731520" cy="731520"/>
          </a:xfrm>
        </p:grpSpPr>
        <p:sp>
          <p:nvSpPr>
            <p:cNvPr name="Freeform 15" id="15" descr="icons/handshake_white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086100" y="3813048"/>
            <a:ext cx="13441680" cy="1645920"/>
            <a:chOff x="0" y="0"/>
            <a:chExt cx="17922240" cy="21945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922239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04775"/>
              <a:ext cx="17922240" cy="2299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Aplikasi ini bukan sekadar alat tracking, melainkan jembatan komunikasi antara perusahaan dan karyawan.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34440" y="6172200"/>
            <a:ext cx="15773400" cy="2125980"/>
            <a:chOff x="0" y="0"/>
            <a:chExt cx="21031200" cy="2834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031200" cy="2834640"/>
            </a:xfrm>
            <a:custGeom>
              <a:avLst/>
              <a:gdLst/>
              <a:ahLst/>
              <a:cxnLst/>
              <a:rect r="r" b="b" t="t" l="l"/>
              <a:pathLst>
                <a:path h="2834640" w="21031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0811744" y="0"/>
                  </a:lnTo>
                  <a:cubicBezTo>
                    <a:pt x="20932902" y="0"/>
                    <a:pt x="21031200" y="98298"/>
                    <a:pt x="21031200" y="219456"/>
                  </a:cubicBezTo>
                  <a:lnTo>
                    <a:pt x="21031200" y="2615184"/>
                  </a:lnTo>
                  <a:cubicBezTo>
                    <a:pt x="21031200" y="2736342"/>
                    <a:pt x="20932902" y="2834640"/>
                    <a:pt x="2081174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645920" y="6748272"/>
            <a:ext cx="987552" cy="987552"/>
            <a:chOff x="0" y="0"/>
            <a:chExt cx="1316736" cy="13167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865376" y="6967728"/>
            <a:ext cx="548640" cy="548640"/>
            <a:chOff x="0" y="0"/>
            <a:chExt cx="731520" cy="731520"/>
          </a:xfrm>
        </p:grpSpPr>
        <p:sp>
          <p:nvSpPr>
            <p:cNvPr name="Freeform 24" id="24" descr="icons/bulb_white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086100" y="6419088"/>
            <a:ext cx="13441680" cy="1645920"/>
            <a:chOff x="0" y="0"/>
            <a:chExt cx="17922240" cy="21945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922239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04775"/>
              <a:ext cx="17922240" cy="2299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Menciptakan budaya kerja yang lebih objektif, transparan, dan berorientasi pada hasil (Goal-Oriented).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5800" y="9669780"/>
            <a:ext cx="5486400" cy="411480"/>
            <a:chOff x="0" y="0"/>
            <a:chExt cx="731520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9FB3B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TALENT ACHIEVE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FB3B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-2194560"/>
            <a:ext cx="7543800" cy="7543800"/>
            <a:chOff x="0" y="0"/>
            <a:chExt cx="10058400" cy="1005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087E8B">
                <a:alpha val="470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468880" y="6583680"/>
            <a:ext cx="6858000" cy="6858000"/>
            <a:chOff x="0" y="0"/>
            <a:chExt cx="9144000" cy="914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FF6B35">
                <a:alpha val="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318754" y="2743200"/>
            <a:ext cx="1645920" cy="1645920"/>
            <a:chOff x="0" y="0"/>
            <a:chExt cx="2194560" cy="2194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cubicBezTo>
                    <a:pt x="1703324" y="0"/>
                    <a:pt x="2194560" y="491236"/>
                    <a:pt x="2194560" y="1097280"/>
                  </a:cubicBezTo>
                  <a:cubicBezTo>
                    <a:pt x="2194560" y="1703324"/>
                    <a:pt x="1703324" y="2194560"/>
                    <a:pt x="1097280" y="2194560"/>
                  </a:cubicBezTo>
                  <a:cubicBezTo>
                    <a:pt x="491236" y="2194560"/>
                    <a:pt x="0" y="1703324"/>
                    <a:pt x="0" y="1097280"/>
                  </a:cubicBezTo>
                  <a:close/>
                </a:path>
              </a:pathLst>
            </a:custGeom>
            <a:solidFill>
              <a:srgbClr val="087E8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661654" y="3086100"/>
            <a:ext cx="960120" cy="960120"/>
            <a:chOff x="0" y="0"/>
            <a:chExt cx="1280160" cy="1280160"/>
          </a:xfrm>
        </p:grpSpPr>
        <p:sp>
          <p:nvSpPr>
            <p:cNvPr name="Freeform 9" id="9" descr="icons/question_white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4800600"/>
            <a:ext cx="18283428" cy="1371600"/>
            <a:chOff x="0" y="0"/>
            <a:chExt cx="24377904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735" r="0" b="-20973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4377904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559"/>
                </a:lnSpc>
              </a:pPr>
              <a:r>
                <a:rPr lang="en-US" sz="6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Terima Kasih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9189720"/>
            <a:ext cx="18283428" cy="480060"/>
            <a:chOff x="0" y="0"/>
            <a:chExt cx="24377904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7790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2101" r="0" b="-6921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437790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300">
                  <a:solidFill>
                    <a:srgbClr val="9FB3B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TALENT ACHIEVE — KELOMPOK 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DAHPJwRQijI</dc:identifier>
  <dcterms:modified xsi:type="dcterms:W3CDTF">2011-08-01T06:04:30Z</dcterms:modified>
  <cp:revision>1</cp:revision>
  <dc:title>TalentAchieve_Presentasi</dc:title>
</cp:coreProperties>
</file>